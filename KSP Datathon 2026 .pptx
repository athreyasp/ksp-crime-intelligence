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ourier New"/>
              </a:rPr>
              <a:t>KSP Crime Intelligence &amp; Analytical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KSP Datathon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AI-Driven Crime Analytics &amp; Visualization Platform  ·  Karnataka State Police SCRB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ourier New"/>
              </a:rPr>
              <a:t>TEAM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Team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46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Hashiras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Team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611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Athreya S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Team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977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Five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343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AI-Driven Crime Analytics &amp; Visualization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709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Zoho Catalyst — Serverless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074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React · TypeScript · Vite · TanStack Router ·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Brief about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KSP Crime Intelligence &amp; Analytical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 centralized intelligence web portal for the Karnataka State Police SCRB that combines: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Hex-grid Cartogram Dashboard — interactive district FIR density map with 30-day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Crime Hotspot Mapping — MapLibre GL spatial heatmap with radius/intensity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Criminal Network &amp; Link Analysis — D3-force graph of offender connections across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Offender Registry — searchable suspect dossier with mugshots stored in Catalyst File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01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AI-Based Predictive Crime Insights — ML-style forecasting by hour, district, and crime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Sociological Profiling — demographic breakdowns (age, gender, religion, caste, occupation)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Digital Case Dossier &amp; FIR Repository — full CRUD with PDF print export via jsPDF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525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▸  New FIR Intake — structured form that writes to 27 Catalyst Datastore tables in one 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All data is fetched live from Zoho Catalyst Datastore via ZCQL. Mock data fills in when the serverless function is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Differentiation · Problem Solving · USP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ourier New"/>
              </a:rPr>
              <a:t>HOW IT IS DIFFERENT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Existing CCTNS/FIR systems store records — we deliver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12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Combines spatial, relational &amp; predictive analysis in one SPA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59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Real cartogram (hex grid) + live ZCQL queries vs static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072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Framer Motion micro-animations for command-centre feel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173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ourier New"/>
              </a:rPr>
              <a:t>HOW IT SOLVES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764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Detects crime hotspots at district &amp; sub-district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12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Identifies links between offenders and cases (network graph)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59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Predicts future crime trends by hour, day &amp;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8072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Supports proactive policing &amp; faster decision-making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Officers file new FIRs directly from the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ourier New"/>
              </a:rPr>
              <a:t>USP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64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Designed specifically for SCRB intelligence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12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Unified hotspot map, network graph &amp; AI predictions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59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Fully serverless on Zoho Catalyst (27 Datastore tables)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072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jsPDF printable FIR copies with QR codes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Live Catalyst File Store for mugshots &amp; officer photos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Features of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ourier New"/>
              </a:rPr>
              <a:t>CORE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Overview Dashboard — KPI cards (Total FIRs, Heinous %, Active, Charge-sheeted, Arrests)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391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Hex Cartogram — clickable district hexes coloured by FIR density, spike badges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865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Radial 24h Timeline — hour-of-day ring chart for selected district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340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30-Day Trend Bar — mini histogram for recent FIR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815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Crime Head Donut — category breakdown for selected district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29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Hotspot Map — MapLibre GL heatmap with radius/intensity sliders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ourier New"/>
              </a:rPr>
              <a:t>INTELLIGENCE &amp;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91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Criminal Network Graph — D3-force, filter by offense or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39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Offender Registry — paginated table with mugshot, search, jurisdiction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865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Predictive AI Engine — hour / district / crime-head forecasts with confidence bars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340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Sociological Analysis — age pyramid, gender split, religion/caste/occupation pie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81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Cases Explorer — full FIR search, filter by gravity/status/district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429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Case Dossier — complainant, victim, accused, legal sections, chargesheet, PDF 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764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New FIR Form — multi-step intake that POSTs to Catalyst Datastore across 27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Process Flow / Use-case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End-to-end data flow from Karnataka Police FIR registration to intelligence output: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03120"/>
            <a:ext cx="146304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194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Field Officer
Files FIR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2128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103120"/>
            <a:ext cx="146304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194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FIR Form
(React SPA)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59" y="262128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103120"/>
            <a:ext cx="146304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Catalyst Serverless
API (Node.js)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62128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103120"/>
            <a:ext cx="146304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194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Catalyst
Datastore
(27 Tables)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2128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103120"/>
            <a:ext cx="146304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94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ZCQL Live
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62128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103120"/>
            <a:ext cx="146304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194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Analytics
Engine
(React)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621280"/>
            <a:ext cx="228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103120"/>
            <a:ext cx="146304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194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SCRB Officer
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6576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▸  FIR filed via structured React multi-step form → POST /server/api/cases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005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▸  Serverless function inserts records across CaseMaster, Accused, Victim, Complainant, ArrestSurrender, ActSectionAssociation, ChargesheetDetails + 20 lookup 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3525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▸  Frontend fetches via GET /server/api/cases using ZCQL; falls back to deterministic mock data when offline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000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▸  Analytics views (hotspots, network, predictive, sociological) consume the same live Case[] array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Screen Wireframes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Actual UI layout of all 6 portal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298448"/>
            <a:ext cx="580644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353312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01  Overview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70992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  <a:latin typeface="Calibri"/>
              </a:rPr>
              <a:t>KPI cards · Hex Cartogram · Radial 24h ring · 30-day trend · Donut chart</a:t>
            </a:r>
          </a:p>
        </p:txBody>
      </p:sp>
      <p:pic>
        <p:nvPicPr>
          <p:cNvPr id="10" name="Picture 9" descr="wireframe_overview_dashboard_178508916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408176"/>
            <a:ext cx="3337560" cy="15727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17336" y="1298448"/>
            <a:ext cx="5806440" cy="1783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353312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02  Hotspot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170992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  <a:latin typeface="Calibri"/>
              </a:rPr>
              <a:t>MapLibre GL heatmap · Radius/Intensity sliders · Gravity &amp; crime-head filters</a:t>
            </a:r>
          </a:p>
        </p:txBody>
      </p:sp>
      <p:pic>
        <p:nvPicPr>
          <p:cNvPr id="14" name="Picture 13" descr="wireframe_hotspot_map_1785089168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1408176"/>
            <a:ext cx="3337560" cy="15727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01168" y="3154680"/>
            <a:ext cx="580644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320954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03  Criminal Network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5661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  <a:latin typeface="Calibri"/>
              </a:rPr>
              <a:t>D3-force graph · Node = accused · Edges = shared cases · Filter by year</a:t>
            </a:r>
          </a:p>
        </p:txBody>
      </p:sp>
      <p:pic>
        <p:nvPicPr>
          <p:cNvPr id="18" name="Picture 17" descr="wireframe_network_graph_17850891885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3264408"/>
            <a:ext cx="3337560" cy="15727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17336" y="3154680"/>
            <a:ext cx="5806440" cy="1783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3209544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04  Predictive AI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56616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  <a:latin typeface="Calibri"/>
              </a:rPr>
              <a:t>Hour-of-day bars · District risk scores · Crime-head probability · 7-day forecast</a:t>
            </a:r>
          </a:p>
        </p:txBody>
      </p:sp>
      <p:pic>
        <p:nvPicPr>
          <p:cNvPr id="22" name="Picture 21" descr="wireframe_predictive_ai_17850891970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3264408"/>
            <a:ext cx="3337560" cy="15727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201168" y="5010912"/>
            <a:ext cx="5806440" cy="1783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5065776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05  Case Dossier &amp; FIR Explorer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" y="542239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  <a:latin typeface="Calibri"/>
              </a:rPr>
              <a:t>Search &amp; filter list · Complainant · Victim · Accused mugshots · jsPDF print</a:t>
            </a:r>
          </a:p>
        </p:txBody>
      </p:sp>
      <p:pic>
        <p:nvPicPr>
          <p:cNvPr id="26" name="Picture 25" descr="wireframe_case_dossier_17850892234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0048" y="5120640"/>
            <a:ext cx="3337560" cy="157276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117336" y="5010912"/>
            <a:ext cx="5806440" cy="17830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5065776"/>
            <a:ext cx="2331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06  New FIR Intake 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542239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0B0"/>
                </a:solidFill>
                <a:latin typeface="Calibri"/>
              </a:rPr>
              <a:t>6-step wizard: Case Master → Complainant → Victims → Accused → Acts → Submit</a:t>
            </a:r>
          </a:p>
        </p:txBody>
      </p:sp>
      <p:pic>
        <p:nvPicPr>
          <p:cNvPr id="30" name="Picture 29" descr="wireframe_new_fir_form_17850892306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216" y="5120640"/>
            <a:ext cx="3337560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65760"/>
            <a:ext cx="10972800" cy="1325880"/>
          </a:xfrm>
          <a:prstGeom prst="rect">
            <a:avLst/>
          </a:prstGeom>
          <a:solidFill>
            <a:srgbClr val="1A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CLIENT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5720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React 19 + TypeScript · Vite 8 · TanStack Router · Recharts · MapLibre GL · D3-force · Framer Motion · jsPDF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916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10972800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65959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Zoho Catalyst Advanced I/O Function · Express.js router · /server/api/cases  GET | POST | PUT |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20039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83280"/>
            <a:ext cx="10972800" cy="1325880"/>
          </a:xfrm>
          <a:prstGeom prst="rect">
            <a:avLst/>
          </a:prstGeom>
          <a:solidFill>
            <a:srgbClr val="176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47472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Zoho Catalyst Datastore (ZCQL) · 27 normalized tables · CaseMaster · Accused · Victim · ComplainantDetails · ArrestSurrender · ActSectionAssociation · ChargesheetDetails + 20 lookup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709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892040"/>
            <a:ext cx="10972800" cy="1325880"/>
          </a:xfrm>
          <a:prstGeom prst="rect">
            <a:avLst/>
          </a:prstGeom>
          <a:solidFill>
            <a:srgbClr val="7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FILE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98348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Zoho Catalyst File Store (Stratus) · Suspect mugshots · Officer signature photos · PhotoAttachment mapping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6217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172200"/>
            <a:ext cx="10972800" cy="1325880"/>
          </a:xfrm>
          <a:prstGeom prst="rect">
            <a:avLst/>
          </a:prstGeom>
          <a:solidFill>
            <a:srgbClr val="4A1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263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urier New"/>
              </a:rPr>
              <a:t>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626364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  <a:latin typeface="Calibri"/>
              </a:rPr>
              <a:t>Zoho Catalyst Hosting · Static SPA bundle (dist/) · catalyst deploy → production 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Technologies Used in the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749039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React 19 (UI library)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30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TypeScript 5.8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780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Vite 8 (build tool / dev server)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TanStack Router v1 (file-based 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729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TanStack Query v5 (server state)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20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Tailwind CSS v4 (utility styling)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679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Radix UI (headless components)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153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Framer Motion (animations)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628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Lucide React (icon set)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749039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3898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Data Visualisation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7830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Recharts v2 (bar, donut, line charts)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30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MapLibre GL v5 (heatmap / tile maps)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780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D3-force v3 (network graph physics)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D3-hierarchy (tree layouts)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1729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jsPDF v4 (PDF generation)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520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Custom SVG Hex Cartogram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8679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Radial 24h SVG clock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749039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3898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Backend &amp;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7830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Node.js + Express.js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130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zcatalyst-sdk-node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4780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Zoho Catalyst Advanced I/O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ZCQL (SQL-like Datastore queries)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1729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Catalyst File Store / Stratus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520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Catalyst Hosting (static SPA)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8679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npm / Bun (package managers)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Catalyst Services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Zoho Catalyst — Serverless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Catalyst Advanced I/O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D8"/>
                </a:solidFill>
                <a:latin typeface="Calibri"/>
              </a:rPr>
              <a:t>Node.js + Express serverless handler — GET/POST/PUT/DELETE /server/api/*  All business logic, ZCQL queries, photo uploads run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41448"/>
            <a:ext cx="11430000" cy="914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Catalyst Datastore (ZCQL)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D8"/>
                </a:solidFill>
                <a:latin typeface="Calibri"/>
              </a:rPr>
              <a:t>27 normalized relational tables: CaseMaster · Accused · Victim · ComplainantDetails · ArrestSurrender · ActSectionAssociation · ChargesheetDetails · PhotoAttachment + 19 lookup tables.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65576"/>
            <a:ext cx="11430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Catalyst File Store / Stratus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13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D8"/>
                </a:solidFill>
                <a:latin typeface="Calibri"/>
              </a:rPr>
              <a:t>Suspect mugshots, victim photos, and officer signature images are uploaded as base64 blobs, stored as objects, and served back via /server/api/photos/:fileId. PhotoAttachment table maps file IDs.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9704"/>
            <a:ext cx="11430000" cy="914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35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Catalyst Hosting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3717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D8"/>
                </a:solidFill>
                <a:latin typeface="Calibri"/>
              </a:rPr>
              <a:t>The compiled React SPA (dist/) is deployed as a static web client. `catalyst deploy` bundles both the frontend and the serverless function.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13832"/>
            <a:ext cx="11430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59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Catalyst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613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D8D8"/>
                </a:solidFill>
                <a:latin typeface="Calibri"/>
              </a:rPr>
              <a:t>Catalyst SDK initialises the app context from each incoming request (catalyst.initialize(req)), enforcing project-level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Estimated Implementation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Zoho Catalyst uses pay-as-you-go pricing — no upfront infrastructure investment.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30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817"/>
                </a:solidFill>
                <a:latin typeface="Calibri"/>
              </a:rPr>
              <a:t>Compute (Advanced I/O Functions)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Billed per invocation &amp; execution time. Prototype workload ≈ free-tier eligible.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24327"/>
            <a:ext cx="1143000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817"/>
                </a:solidFill>
                <a:latin typeface="Calibri"/>
              </a:rPr>
              <a:t>Catalyst Datastore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27 tables · current dataset ~500–2000 rows · within free-tier storage limits.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74135"/>
            <a:ext cx="11430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1985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817"/>
                </a:solidFill>
                <a:latin typeface="Calibri"/>
              </a:rPr>
              <a:t>Catalyst File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94175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Mugshot &amp; photo uploads. Cost scales with number of images stored.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23943"/>
            <a:ext cx="1143000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6966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817"/>
                </a:solidFill>
                <a:latin typeface="Calibri"/>
              </a:rPr>
              <a:t>Catalyst Hosting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439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Static SPA hosting — included in Catalyst project quota.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73751"/>
            <a:ext cx="1143000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1947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817"/>
                </a:solidFill>
                <a:latin typeface="Calibri"/>
              </a:rPr>
              <a:t>Scaling Cost Factors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i) Compute usage  ii) Data storage (rows &amp; blobs)  iii) Number of districts / police stations onboarded  iv) API call volume from concurrent officers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59"/>
            <a:ext cx="1143000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692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A817"/>
                </a:solidFill>
                <a:latin typeface="Calibri"/>
              </a:rPr>
              <a:t>Production Estimate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435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~₹0 pilot (Catalyst free tier) → ₹500–₹5,000/month at district scale → negotiated enterprise pricing for statewide SCRB rollout.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Prototype Snapshots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Live screens from the deployed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1554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Overview / Cartogram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Hex grid of 31 Karnataka districts coloured by FIR density. KPI cards: Total FIRs, Heinous %, Active Investigations, Charge-sheeted Clearances, Custody Arrests.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1554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Hotspot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MapLibre GL dark-mode map with heatmap radius/intensity sliders. Filter by gravity (Heinous / Non-Heinous) and crime head.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577840" cy="1554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Criminal Network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D3-force directed graph — nodes are accused persons, edges link suspects who share a case. Filterable by year.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63240"/>
            <a:ext cx="5577840" cy="1554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Predictive AI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204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Hour-of-day forecasts, district risk scores, and crime-head probability bars with confidence ranges.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5577840" cy="1554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Case Dossier — Print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jsPDF-rendered FIR copy with KSP header, QR code placeholder, official signature block, complainant / victim / accused / legal sections.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754880"/>
            <a:ext cx="5577840" cy="15544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New FIR Intake 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2120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Multi-step React form writing to 27 Catalyst tables. Photo upload via Catalyst File Store / Stratus.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Prototype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  <a:latin typeface="Calibri"/>
              </a:rPr>
              <a:t>Benchmarked against Zoho Catalyst serverless environment</a:t>
            </a:r>
          </a:p>
        </p:txBody>
      </p:sp>
      <p:pic>
        <p:nvPicPr>
          <p:cNvPr id="7" name="Picture 6" descr="performance_table_chart_1785089252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58368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86600" y="1280160"/>
            <a:ext cx="22402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1464" y="1325880"/>
            <a:ext cx="2185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280160"/>
            <a:ext cx="13258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81744" y="1325880"/>
            <a:ext cx="1271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52760" y="1280160"/>
            <a:ext cx="10972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07624" y="1325880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50040" y="1280160"/>
            <a:ext cx="91440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4904" y="1325880"/>
            <a:ext cx="859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664208"/>
            <a:ext cx="2240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1746504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Dashboard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664208"/>
            <a:ext cx="13258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1746504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1.2s / 2.5s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52760" y="1664208"/>
            <a:ext cx="1097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07624" y="1746504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&lt; 3s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50040" y="1664208"/>
            <a:ext cx="9144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04904" y="1746504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 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139696"/>
            <a:ext cx="2240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41464" y="2221992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ZCQL 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139696"/>
            <a:ext cx="13258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221992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300–800ms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52760" y="2139696"/>
            <a:ext cx="1097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7624" y="2221992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&lt; 1s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750040" y="2139696"/>
            <a:ext cx="91440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04904" y="2221992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 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2615184"/>
            <a:ext cx="2240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41464" y="2697480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Cartogram SVG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615184"/>
            <a:ext cx="13258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81744" y="2697480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&lt; 80ms repaint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2760" y="2615184"/>
            <a:ext cx="1097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07624" y="2697480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&lt; 100ms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750040" y="2615184"/>
            <a:ext cx="9144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04904" y="2697480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 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3090672"/>
            <a:ext cx="2240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41464" y="3172968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D3 Network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090672"/>
            <a:ext cx="13258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1744" y="3172968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60fps / 200+ nodes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52760" y="3090672"/>
            <a:ext cx="1097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07624" y="3172968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60fps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750040" y="3090672"/>
            <a:ext cx="91440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04904" y="3172968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 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600" y="3566160"/>
            <a:ext cx="2240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41464" y="3648456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jsPDF Print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566160"/>
            <a:ext cx="13258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81744" y="3648456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&lt; 400ms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52760" y="3566160"/>
            <a:ext cx="1097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07624" y="3648456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&lt; 500ms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750040" y="3566160"/>
            <a:ext cx="9144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804904" y="3648456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 PASS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86600" y="4041648"/>
            <a:ext cx="2240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41464" y="4123944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FIR POST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4041648"/>
            <a:ext cx="13258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81744" y="4123944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1.5–3s (27 tables)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52760" y="4041648"/>
            <a:ext cx="1097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07624" y="4123944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&lt; 5s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750040" y="4041648"/>
            <a:ext cx="91440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804904" y="4123944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 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86600" y="4517136"/>
            <a:ext cx="2240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41464" y="4599432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Concurrent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26880" y="4517136"/>
            <a:ext cx="13258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81744" y="4599432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10+ tested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52760" y="4517136"/>
            <a:ext cx="109728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07624" y="4599432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50+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750040" y="4517136"/>
            <a:ext cx="914400" cy="4754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804904" y="4599432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A817"/>
                </a:solidFill>
                <a:latin typeface="Calibri"/>
              </a:rPr>
              <a:t>⚠ PENDING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4992624"/>
            <a:ext cx="2240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41464" y="5074920"/>
            <a:ext cx="2185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A817"/>
                </a:solidFill>
                <a:latin typeface="Calibri"/>
              </a:rPr>
              <a:t>Data Volume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26880" y="4992624"/>
            <a:ext cx="13258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81744" y="5074920"/>
            <a:ext cx="12710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500 mock/200 live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652760" y="4992624"/>
            <a:ext cx="10972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707624" y="5074920"/>
            <a:ext cx="10424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D5D5"/>
                </a:solidFill>
                <a:latin typeface="Calibri"/>
              </a:rPr>
              <a:t>10,000+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750040" y="4992624"/>
            <a:ext cx="91440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04904" y="5074920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A817"/>
                </a:solidFill>
                <a:latin typeface="Calibri"/>
              </a:rPr>
              <a:t>⚠ SCALE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6B6B"/>
                </a:solidFill>
                <a:latin typeface="Calibri"/>
              </a:rPr>
              <a:t>Tested on Zoho Catalyst Free-Tier • React 19 + Vite 8 dev server • Deterministic mock seed=42 (500 cases) • Live data from Catalyst ZCQL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Repository &amp; Deployment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Provide links to your: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1143000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GitHub Public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A817"/>
                </a:solidFill>
                <a:latin typeface="Calibri"/>
              </a:rPr>
              <a:t>https://github.com/Athreyasp/KSP-Crime-Intelligence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157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B0B0B0"/>
                </a:solidFill>
                <a:latin typeface="Calibri"/>
              </a:rPr>
              <a:t>Full source — React + TypeScript frontend · Node.js Catalyst serverless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47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Demo Video (3 Minutes)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A817"/>
                </a:solidFill>
                <a:latin typeface="Calibri"/>
              </a:rPr>
              <a:t>[Insert YouTube / Google Drive link here]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245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B0B0B0"/>
                </a:solidFill>
                <a:latin typeface="Calibri"/>
              </a:rPr>
              <a:t>Walk-through of all 8 portal sections with live Catalyst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83480"/>
            <a:ext cx="1143000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56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Deployed Link (Zoho Catalyst Hosting)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A817"/>
                </a:solidFill>
                <a:latin typeface="Calibri"/>
              </a:rPr>
              <a:t>[Your catalyst deploy URL — e.g. https://ksp-crime-intelligence-***.catalystapps.com]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332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B0B0B0"/>
                </a:solidFill>
                <a:latin typeface="Calibri"/>
              </a:rPr>
              <a:t>Production SPA hosted on Zoho Catalyst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0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Developments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298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Live FIR / CCTNS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3794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Real-time WebSocket feed from state CCTNS replacing the current ZCQL poll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577840" cy="129844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04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Advanced Criminal Network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3794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PageRank-based centrality scoring, multi-hop link discovery, gang / ring identification using graph algorithms.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5577840" cy="1298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0779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Mobile Application for Field Officers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5526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React Native app with offline FIR draft support, GPS auto-tagging, and Catalyst sync on reconnect.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5577840" cy="129844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90779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Crime Forecasting by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5526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Per crime-head ML models (ARIMA / Prophet) trained on historical CCTNS data for district-level weekly forecasts.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5577840" cy="1298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251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Multi-language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7258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Kannada UI localization (i18n) for field officers and public-facing grievance portal.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251960"/>
            <a:ext cx="5577840" cy="129844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3251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Role-based Access Control (RBAC)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72584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Catalyst Authentication tiers: Field Officer → Inspector → DCP → SCRB Admin.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69280"/>
            <a:ext cx="11430000" cy="1298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4243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Automated Crime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89904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  <a:latin typeface="Calibri"/>
              </a:rPr>
              <a:t>Catalyst Scheduled Jobs + email/SMS triggers when spike threshold is breached.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Courier New"/>
              </a:rPr>
              <a:t>KARNATAKA STATE POLICE  ·  SCRB DATATHON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0B0"/>
                </a:solidFill>
                <a:latin typeface="Calibri"/>
              </a:rPr>
              <a:t>Team Hashiras  ·  KSP Crime Intelligence &amp; Analytical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6A817"/>
                </a:solidFill>
                <a:latin typeface="Calibri"/>
              </a:rPr>
              <a:t>github.com/Athreyasp/KSP-Crime-Intelligence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React · TypeScript · Vite · TanStack Router · Recharts · MapLibre GL · D3-force · Framer Motion · jsPDF
Zoho Catalyst Datastore · File Store · Advanced I/O Functions · Hosting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ourier New"/>
              </a:rPr>
              <a:t>Karnataka State Police  ·  SCRB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